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notesMasterIdLst>
    <p:notesMasterId r:id="rId31"/>
  </p:notesMasterIdLst>
  <p:sldIdLst>
    <p:sldId id="256" r:id="rId2"/>
    <p:sldId id="257" r:id="rId3"/>
    <p:sldId id="270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4F8C19-380B-044E-A4C7-DE7293E5AC3A}">
          <p14:sldIdLst>
            <p14:sldId id="256"/>
          </p14:sldIdLst>
        </p14:section>
        <p14:section name="Day 2" id="{8F9CE121-73E0-624E-8DEA-79C8CA5C3A30}">
          <p14:sldIdLst>
            <p14:sldId id="257"/>
            <p14:sldId id="270"/>
            <p14:sldId id="258"/>
            <p14:sldId id="272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3"/>
            <p14:sldId id="271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6A0"/>
    <a:srgbClr val="F2F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714"/>
    <p:restoredTop sz="74687"/>
  </p:normalViewPr>
  <p:slideViewPr>
    <p:cSldViewPr snapToGrid="0" showGuides="1">
      <p:cViewPr>
        <p:scale>
          <a:sx n="122" d="100"/>
          <a:sy n="122" d="100"/>
        </p:scale>
        <p:origin x="144" y="160"/>
      </p:cViewPr>
      <p:guideLst>
        <p:guide orient="horz" pos="216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0424A7-92CF-4A0C-9B13-7902416DE1F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65D0353-41CB-D241-A04B-A25E25337B11}">
      <dgm:prSet/>
      <dgm:spPr/>
      <dgm:t>
        <a:bodyPr/>
        <a:lstStyle/>
        <a:p>
          <a:r>
            <a:rPr lang="en-US" dirty="0"/>
            <a:t>Module 2: Data Analysis Fundamentals</a:t>
          </a:r>
        </a:p>
      </dgm:t>
    </dgm:pt>
    <dgm:pt modelId="{A42E1E5B-2E7B-F544-B824-AD948AB02C94}" type="parTrans" cxnId="{5DE66A5E-23BA-3147-A663-6F544BDEAB9F}">
      <dgm:prSet/>
      <dgm:spPr/>
      <dgm:t>
        <a:bodyPr/>
        <a:lstStyle/>
        <a:p>
          <a:endParaRPr lang="en-US"/>
        </a:p>
      </dgm:t>
    </dgm:pt>
    <dgm:pt modelId="{82E21E02-B889-924F-B7FF-F0F809298773}" type="sibTrans" cxnId="{5DE66A5E-23BA-3147-A663-6F544BDEAB9F}">
      <dgm:prSet/>
      <dgm:spPr/>
      <dgm:t>
        <a:bodyPr/>
        <a:lstStyle/>
        <a:p>
          <a:endParaRPr lang="en-US"/>
        </a:p>
      </dgm:t>
    </dgm:pt>
    <dgm:pt modelId="{67A33EE3-1D55-1846-8246-E921F00AA5D9}">
      <dgm:prSet/>
      <dgm:spPr/>
      <dgm:t>
        <a:bodyPr/>
        <a:lstStyle/>
        <a:p>
          <a:r>
            <a:rPr lang="en-US" dirty="0"/>
            <a:t>1.	Databases – types and purpose</a:t>
          </a:r>
        </a:p>
      </dgm:t>
    </dgm:pt>
    <dgm:pt modelId="{3658B82F-654F-4640-B322-BDB04FE2096B}" type="parTrans" cxnId="{38416136-E3FA-FA43-A8F5-DC1DEE61F43E}">
      <dgm:prSet/>
      <dgm:spPr/>
      <dgm:t>
        <a:bodyPr/>
        <a:lstStyle/>
        <a:p>
          <a:endParaRPr lang="en-US"/>
        </a:p>
      </dgm:t>
    </dgm:pt>
    <dgm:pt modelId="{D60BD92E-0C29-2B43-B0D1-9BD6815CD218}" type="sibTrans" cxnId="{38416136-E3FA-FA43-A8F5-DC1DEE61F43E}">
      <dgm:prSet/>
      <dgm:spPr/>
      <dgm:t>
        <a:bodyPr/>
        <a:lstStyle/>
        <a:p>
          <a:endParaRPr lang="en-US"/>
        </a:p>
      </dgm:t>
    </dgm:pt>
    <dgm:pt modelId="{09BEC084-CB5C-2544-B758-70BFA200EFB5}">
      <dgm:prSet/>
      <dgm:spPr/>
      <dgm:t>
        <a:bodyPr/>
        <a:lstStyle/>
        <a:p>
          <a:r>
            <a:rPr lang="en-US" dirty="0"/>
            <a:t>2.	Tools used to ingest data</a:t>
          </a:r>
        </a:p>
      </dgm:t>
    </dgm:pt>
    <dgm:pt modelId="{671F57D5-D9D0-6F41-A3E8-30D11C52CFC1}" type="parTrans" cxnId="{874BD588-FA9A-5B42-937E-65FD2D3B3971}">
      <dgm:prSet/>
      <dgm:spPr/>
      <dgm:t>
        <a:bodyPr/>
        <a:lstStyle/>
        <a:p>
          <a:endParaRPr lang="en-US"/>
        </a:p>
      </dgm:t>
    </dgm:pt>
    <dgm:pt modelId="{CDD23265-84FF-9649-A125-F0429AA99282}" type="sibTrans" cxnId="{874BD588-FA9A-5B42-937E-65FD2D3B3971}">
      <dgm:prSet/>
      <dgm:spPr/>
      <dgm:t>
        <a:bodyPr/>
        <a:lstStyle/>
        <a:p>
          <a:endParaRPr lang="en-US"/>
        </a:p>
      </dgm:t>
    </dgm:pt>
    <dgm:pt modelId="{06126490-99E4-E846-95C7-D000F2E6EF4C}">
      <dgm:prSet/>
      <dgm:spPr/>
      <dgm:t>
        <a:bodyPr/>
        <a:lstStyle/>
        <a:p>
          <a:r>
            <a:rPr lang="en-US" dirty="0"/>
            <a:t>3.	Storing and retrieving data</a:t>
          </a:r>
        </a:p>
      </dgm:t>
    </dgm:pt>
    <dgm:pt modelId="{71DC9C10-2595-A644-9A9D-0548CE1CE726}" type="parTrans" cxnId="{D17D6EC2-B8F9-4644-B185-38075250B6AE}">
      <dgm:prSet/>
      <dgm:spPr/>
      <dgm:t>
        <a:bodyPr/>
        <a:lstStyle/>
        <a:p>
          <a:endParaRPr lang="en-US"/>
        </a:p>
      </dgm:t>
    </dgm:pt>
    <dgm:pt modelId="{781D2118-944B-5B41-8790-8B4D241DB06A}" type="sibTrans" cxnId="{D17D6EC2-B8F9-4644-B185-38075250B6AE}">
      <dgm:prSet/>
      <dgm:spPr/>
      <dgm:t>
        <a:bodyPr/>
        <a:lstStyle/>
        <a:p>
          <a:endParaRPr lang="en-US"/>
        </a:p>
      </dgm:t>
    </dgm:pt>
    <dgm:pt modelId="{EAE3E24E-6AF5-5B40-B0C3-4C9D7641D4A1}">
      <dgm:prSet/>
      <dgm:spPr/>
      <dgm:t>
        <a:bodyPr/>
        <a:lstStyle/>
        <a:p>
          <a:r>
            <a:rPr lang="en-US" dirty="0"/>
            <a:t>4.	Data Quality and Cleaning Techniques </a:t>
          </a:r>
        </a:p>
      </dgm:t>
    </dgm:pt>
    <dgm:pt modelId="{166AAF51-4F35-784B-BB07-BC122E57AF25}" type="parTrans" cxnId="{C8B0537E-AB28-504A-8B13-BFA308CA5B92}">
      <dgm:prSet/>
      <dgm:spPr/>
      <dgm:t>
        <a:bodyPr/>
        <a:lstStyle/>
        <a:p>
          <a:endParaRPr lang="en-US"/>
        </a:p>
      </dgm:t>
    </dgm:pt>
    <dgm:pt modelId="{763327BA-D82C-7E46-BD30-03D8D656AB48}" type="sibTrans" cxnId="{C8B0537E-AB28-504A-8B13-BFA308CA5B92}">
      <dgm:prSet/>
      <dgm:spPr/>
      <dgm:t>
        <a:bodyPr/>
        <a:lstStyle/>
        <a:p>
          <a:endParaRPr lang="en-US"/>
        </a:p>
      </dgm:t>
    </dgm:pt>
    <dgm:pt modelId="{FE9DA716-5007-254A-8034-406370B05981}">
      <dgm:prSet/>
      <dgm:spPr/>
      <dgm:t>
        <a:bodyPr/>
        <a:lstStyle/>
        <a:p>
          <a:r>
            <a:rPr lang="en-US" dirty="0"/>
            <a:t>5.	Data Transformation </a:t>
          </a:r>
        </a:p>
      </dgm:t>
    </dgm:pt>
    <dgm:pt modelId="{50919B76-6029-214F-97DE-05D211C6C090}" type="parTrans" cxnId="{83FDA7A9-A488-9142-957C-046B8C454E3B}">
      <dgm:prSet/>
      <dgm:spPr/>
      <dgm:t>
        <a:bodyPr/>
        <a:lstStyle/>
        <a:p>
          <a:endParaRPr lang="en-US"/>
        </a:p>
      </dgm:t>
    </dgm:pt>
    <dgm:pt modelId="{2362BEF4-9638-644C-A99F-323EE5FA430B}" type="sibTrans" cxnId="{83FDA7A9-A488-9142-957C-046B8C454E3B}">
      <dgm:prSet/>
      <dgm:spPr/>
      <dgm:t>
        <a:bodyPr/>
        <a:lstStyle/>
        <a:p>
          <a:endParaRPr lang="en-US"/>
        </a:p>
      </dgm:t>
    </dgm:pt>
    <dgm:pt modelId="{49C2B068-8124-8544-93B4-DC33C2E3B0DE}">
      <dgm:prSet/>
      <dgm:spPr/>
      <dgm:t>
        <a:bodyPr/>
        <a:lstStyle/>
        <a:p>
          <a:r>
            <a:rPr lang="en-US" dirty="0"/>
            <a:t>6.	Data Integration and ETL Processes </a:t>
          </a:r>
        </a:p>
      </dgm:t>
    </dgm:pt>
    <dgm:pt modelId="{A443616F-D41B-9842-810A-A1FA97452552}" type="parTrans" cxnId="{3482F3B6-4675-E04E-98DF-8545411A5AEF}">
      <dgm:prSet/>
      <dgm:spPr/>
      <dgm:t>
        <a:bodyPr/>
        <a:lstStyle/>
        <a:p>
          <a:endParaRPr lang="en-US"/>
        </a:p>
      </dgm:t>
    </dgm:pt>
    <dgm:pt modelId="{6B2D2A9C-62FB-2D44-B539-E18A748F1BF3}" type="sibTrans" cxnId="{3482F3B6-4675-E04E-98DF-8545411A5AEF}">
      <dgm:prSet/>
      <dgm:spPr/>
      <dgm:t>
        <a:bodyPr/>
        <a:lstStyle/>
        <a:p>
          <a:endParaRPr lang="en-US"/>
        </a:p>
      </dgm:t>
    </dgm:pt>
    <dgm:pt modelId="{31126AD5-8C4C-1F43-83B7-3F2AA8A58C56}">
      <dgm:prSet/>
      <dgm:spPr/>
      <dgm:t>
        <a:bodyPr/>
        <a:lstStyle/>
        <a:p>
          <a:r>
            <a:rPr lang="en-US"/>
            <a:t>7.	Python Basics for Non-IT Students</a:t>
          </a:r>
          <a:endParaRPr lang="en-US" dirty="0"/>
        </a:p>
      </dgm:t>
    </dgm:pt>
    <dgm:pt modelId="{13E392CF-FCCB-CC41-A69F-CBFC95083CA4}" type="parTrans" cxnId="{F7297DD5-E446-F646-B982-63855CFC564C}">
      <dgm:prSet/>
      <dgm:spPr/>
      <dgm:t>
        <a:bodyPr/>
        <a:lstStyle/>
        <a:p>
          <a:endParaRPr lang="en-US"/>
        </a:p>
      </dgm:t>
    </dgm:pt>
    <dgm:pt modelId="{038CA259-B203-4346-B3AA-8459D93CAE41}" type="sibTrans" cxnId="{F7297DD5-E446-F646-B982-63855CFC564C}">
      <dgm:prSet/>
      <dgm:spPr/>
      <dgm:t>
        <a:bodyPr/>
        <a:lstStyle/>
        <a:p>
          <a:endParaRPr lang="en-US"/>
        </a:p>
      </dgm:t>
    </dgm:pt>
    <dgm:pt modelId="{9DE26377-BC44-5D4D-84EB-34A3CA439568}">
      <dgm:prSet/>
      <dgm:spPr/>
      <dgm:t>
        <a:bodyPr/>
        <a:lstStyle/>
        <a:p>
          <a:r>
            <a:rPr lang="en-US"/>
            <a:t>a.	Introduction to Python and Its Uses in Data Analytics </a:t>
          </a:r>
          <a:endParaRPr lang="en-US" dirty="0"/>
        </a:p>
      </dgm:t>
    </dgm:pt>
    <dgm:pt modelId="{23DE21B0-1EDA-E545-BC01-C240CF93A028}" type="parTrans" cxnId="{6FB64905-5377-B74C-962B-6812DBAB9E79}">
      <dgm:prSet/>
      <dgm:spPr/>
      <dgm:t>
        <a:bodyPr/>
        <a:lstStyle/>
        <a:p>
          <a:endParaRPr lang="en-US"/>
        </a:p>
      </dgm:t>
    </dgm:pt>
    <dgm:pt modelId="{CFD291E1-2C4C-AC42-8721-EB1F16C6F769}" type="sibTrans" cxnId="{6FB64905-5377-B74C-962B-6812DBAB9E79}">
      <dgm:prSet/>
      <dgm:spPr/>
      <dgm:t>
        <a:bodyPr/>
        <a:lstStyle/>
        <a:p>
          <a:endParaRPr lang="en-US"/>
        </a:p>
      </dgm:t>
    </dgm:pt>
    <dgm:pt modelId="{187762FF-6B13-0146-8523-A4E3EAFFF1CB}">
      <dgm:prSet/>
      <dgm:spPr/>
      <dgm:t>
        <a:bodyPr/>
        <a:lstStyle/>
        <a:p>
          <a:r>
            <a:rPr lang="en-US"/>
            <a:t>b.	Setting Up Python Environment </a:t>
          </a:r>
          <a:endParaRPr lang="en-US" dirty="0"/>
        </a:p>
      </dgm:t>
    </dgm:pt>
    <dgm:pt modelId="{4009B2AB-4FB0-914E-BE82-1C903C6223D0}" type="parTrans" cxnId="{5F28DF01-40D8-9448-B8C1-38DC58AED646}">
      <dgm:prSet/>
      <dgm:spPr/>
      <dgm:t>
        <a:bodyPr/>
        <a:lstStyle/>
        <a:p>
          <a:endParaRPr lang="en-US"/>
        </a:p>
      </dgm:t>
    </dgm:pt>
    <dgm:pt modelId="{9021CB73-8FE5-4941-A372-F48443C6E5F7}" type="sibTrans" cxnId="{5F28DF01-40D8-9448-B8C1-38DC58AED646}">
      <dgm:prSet/>
      <dgm:spPr/>
      <dgm:t>
        <a:bodyPr/>
        <a:lstStyle/>
        <a:p>
          <a:endParaRPr lang="en-US"/>
        </a:p>
      </dgm:t>
    </dgm:pt>
    <dgm:pt modelId="{06030732-E9FE-6444-82F0-F535714C48EE}">
      <dgm:prSet/>
      <dgm:spPr/>
      <dgm:t>
        <a:bodyPr/>
        <a:lstStyle/>
        <a:p>
          <a:r>
            <a:rPr lang="en-US"/>
            <a:t>c.	Basic Python Syntax and Operations </a:t>
          </a:r>
          <a:endParaRPr lang="en-US" dirty="0"/>
        </a:p>
      </dgm:t>
    </dgm:pt>
    <dgm:pt modelId="{F8E97EC9-3A8C-3543-B9F3-8EC94D1513BF}" type="parTrans" cxnId="{4A91813A-567A-EE4F-A7F1-D52B63A3636E}">
      <dgm:prSet/>
      <dgm:spPr/>
      <dgm:t>
        <a:bodyPr/>
        <a:lstStyle/>
        <a:p>
          <a:endParaRPr lang="en-US"/>
        </a:p>
      </dgm:t>
    </dgm:pt>
    <dgm:pt modelId="{A4B6EFBB-1EB1-954E-9AE4-D85BAF0DDC29}" type="sibTrans" cxnId="{4A91813A-567A-EE4F-A7F1-D52B63A3636E}">
      <dgm:prSet/>
      <dgm:spPr/>
      <dgm:t>
        <a:bodyPr/>
        <a:lstStyle/>
        <a:p>
          <a:endParaRPr lang="en-US"/>
        </a:p>
      </dgm:t>
    </dgm:pt>
    <dgm:pt modelId="{FEDE3990-7115-A346-9C88-6B01F6A43577}">
      <dgm:prSet/>
      <dgm:spPr/>
      <dgm:t>
        <a:bodyPr/>
        <a:lstStyle/>
        <a:p>
          <a:r>
            <a:rPr lang="en-US"/>
            <a:t>d.	Data Structures: Lists, Tuples, Dictionaries </a:t>
          </a:r>
          <a:endParaRPr lang="en-US" dirty="0"/>
        </a:p>
      </dgm:t>
    </dgm:pt>
    <dgm:pt modelId="{93BA67EF-DE09-A74F-8AE7-2B9BD93D19A9}" type="parTrans" cxnId="{9D559F9A-E5F9-9541-A86B-68C7EB224A53}">
      <dgm:prSet/>
      <dgm:spPr/>
      <dgm:t>
        <a:bodyPr/>
        <a:lstStyle/>
        <a:p>
          <a:endParaRPr lang="en-US"/>
        </a:p>
      </dgm:t>
    </dgm:pt>
    <dgm:pt modelId="{3785B16B-7744-4F46-9687-1C329BE207C5}" type="sibTrans" cxnId="{9D559F9A-E5F9-9541-A86B-68C7EB224A53}">
      <dgm:prSet/>
      <dgm:spPr/>
      <dgm:t>
        <a:bodyPr/>
        <a:lstStyle/>
        <a:p>
          <a:endParaRPr lang="en-US"/>
        </a:p>
      </dgm:t>
    </dgm:pt>
    <dgm:pt modelId="{F95757DF-9F8A-FF40-BB22-17AC61345F58}">
      <dgm:prSet/>
      <dgm:spPr/>
      <dgm:t>
        <a:bodyPr/>
        <a:lstStyle/>
        <a:p>
          <a:r>
            <a:rPr lang="en-US" dirty="0"/>
            <a:t>e.	Importing and Using Libraries (NumPy, Pandas) </a:t>
          </a:r>
        </a:p>
      </dgm:t>
    </dgm:pt>
    <dgm:pt modelId="{73CB02CA-2FA0-F848-8477-8270783D1EAC}" type="parTrans" cxnId="{45FC1306-523E-144C-9B3E-FA23C0AD78C4}">
      <dgm:prSet/>
      <dgm:spPr/>
      <dgm:t>
        <a:bodyPr/>
        <a:lstStyle/>
        <a:p>
          <a:endParaRPr lang="en-US"/>
        </a:p>
      </dgm:t>
    </dgm:pt>
    <dgm:pt modelId="{B4E4BABF-4B14-B745-9D68-21879C1BD3D2}" type="sibTrans" cxnId="{45FC1306-523E-144C-9B3E-FA23C0AD78C4}">
      <dgm:prSet/>
      <dgm:spPr/>
      <dgm:t>
        <a:bodyPr/>
        <a:lstStyle/>
        <a:p>
          <a:endParaRPr lang="en-US"/>
        </a:p>
      </dgm:t>
    </dgm:pt>
    <dgm:pt modelId="{25EB0F0B-EFA3-CC4B-8317-0F4EBEEEE176}">
      <dgm:prSet/>
      <dgm:spPr/>
      <dgm:t>
        <a:bodyPr/>
        <a:lstStyle/>
        <a:p>
          <a:r>
            <a:rPr lang="en-US" dirty="0"/>
            <a:t>f.	Basic Data Manipulation with Pandas</a:t>
          </a:r>
        </a:p>
      </dgm:t>
    </dgm:pt>
    <dgm:pt modelId="{B5075616-78A4-8140-9F20-741048E7B9F1}" type="parTrans" cxnId="{1CE72FBB-69EF-454B-B410-A43206156D47}">
      <dgm:prSet/>
      <dgm:spPr/>
      <dgm:t>
        <a:bodyPr/>
        <a:lstStyle/>
        <a:p>
          <a:endParaRPr lang="en-US"/>
        </a:p>
      </dgm:t>
    </dgm:pt>
    <dgm:pt modelId="{70CBA6E0-1FF6-4A46-AF59-7A0C3ECB98AE}" type="sibTrans" cxnId="{1CE72FBB-69EF-454B-B410-A43206156D47}">
      <dgm:prSet/>
      <dgm:spPr/>
      <dgm:t>
        <a:bodyPr/>
        <a:lstStyle/>
        <a:p>
          <a:endParaRPr lang="en-US"/>
        </a:p>
      </dgm:t>
    </dgm:pt>
    <dgm:pt modelId="{662940FF-6B3E-DE4C-AED7-6FC745DA8819}" type="pres">
      <dgm:prSet presAssocID="{960424A7-92CF-4A0C-9B13-7902416DE1F9}" presName="linear" presStyleCnt="0">
        <dgm:presLayoutVars>
          <dgm:animLvl val="lvl"/>
          <dgm:resizeHandles val="exact"/>
        </dgm:presLayoutVars>
      </dgm:prSet>
      <dgm:spPr/>
    </dgm:pt>
    <dgm:pt modelId="{71DB4366-9F5A-BA4F-A8F0-260D52F2FE21}" type="pres">
      <dgm:prSet presAssocID="{865D0353-41CB-D241-A04B-A25E25337B1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439E3CE-4523-274F-BFD1-1A3B064431CF}" type="pres">
      <dgm:prSet presAssocID="{865D0353-41CB-D241-A04B-A25E25337B1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F28DF01-40D8-9448-B8C1-38DC58AED646}" srcId="{865D0353-41CB-D241-A04B-A25E25337B11}" destId="{187762FF-6B13-0146-8523-A4E3EAFFF1CB}" srcOrd="8" destOrd="0" parTransId="{4009B2AB-4FB0-914E-BE82-1C903C6223D0}" sibTransId="{9021CB73-8FE5-4941-A372-F48443C6E5F7}"/>
    <dgm:cxn modelId="{AF2E0C05-3A38-694B-8656-85240C96F694}" type="presOf" srcId="{187762FF-6B13-0146-8523-A4E3EAFFF1CB}" destId="{0439E3CE-4523-274F-BFD1-1A3B064431CF}" srcOrd="0" destOrd="8" presId="urn:microsoft.com/office/officeart/2005/8/layout/vList2"/>
    <dgm:cxn modelId="{6FB64905-5377-B74C-962B-6812DBAB9E79}" srcId="{865D0353-41CB-D241-A04B-A25E25337B11}" destId="{9DE26377-BC44-5D4D-84EB-34A3CA439568}" srcOrd="7" destOrd="0" parTransId="{23DE21B0-1EDA-E545-BC01-C240CF93A028}" sibTransId="{CFD291E1-2C4C-AC42-8721-EB1F16C6F769}"/>
    <dgm:cxn modelId="{45FC1306-523E-144C-9B3E-FA23C0AD78C4}" srcId="{865D0353-41CB-D241-A04B-A25E25337B11}" destId="{F95757DF-9F8A-FF40-BB22-17AC61345F58}" srcOrd="11" destOrd="0" parTransId="{73CB02CA-2FA0-F848-8477-8270783D1EAC}" sibTransId="{B4E4BABF-4B14-B745-9D68-21879C1BD3D2}"/>
    <dgm:cxn modelId="{07FAD418-4A8A-DD46-9B54-99673E3203B6}" type="presOf" srcId="{25EB0F0B-EFA3-CC4B-8317-0F4EBEEEE176}" destId="{0439E3CE-4523-274F-BFD1-1A3B064431CF}" srcOrd="0" destOrd="12" presId="urn:microsoft.com/office/officeart/2005/8/layout/vList2"/>
    <dgm:cxn modelId="{45D33125-1017-BE47-8B8B-6342A322B383}" type="presOf" srcId="{06126490-99E4-E846-95C7-D000F2E6EF4C}" destId="{0439E3CE-4523-274F-BFD1-1A3B064431CF}" srcOrd="0" destOrd="2" presId="urn:microsoft.com/office/officeart/2005/8/layout/vList2"/>
    <dgm:cxn modelId="{EB88CE2F-79C2-C04D-901D-4788E75B8EDB}" type="presOf" srcId="{EAE3E24E-6AF5-5B40-B0C3-4C9D7641D4A1}" destId="{0439E3CE-4523-274F-BFD1-1A3B064431CF}" srcOrd="0" destOrd="3" presId="urn:microsoft.com/office/officeart/2005/8/layout/vList2"/>
    <dgm:cxn modelId="{38416136-E3FA-FA43-A8F5-DC1DEE61F43E}" srcId="{865D0353-41CB-D241-A04B-A25E25337B11}" destId="{67A33EE3-1D55-1846-8246-E921F00AA5D9}" srcOrd="0" destOrd="0" parTransId="{3658B82F-654F-4640-B322-BDB04FE2096B}" sibTransId="{D60BD92E-0C29-2B43-B0D1-9BD6815CD218}"/>
    <dgm:cxn modelId="{4A91813A-567A-EE4F-A7F1-D52B63A3636E}" srcId="{865D0353-41CB-D241-A04B-A25E25337B11}" destId="{06030732-E9FE-6444-82F0-F535714C48EE}" srcOrd="9" destOrd="0" parTransId="{F8E97EC9-3A8C-3543-B9F3-8EC94D1513BF}" sibTransId="{A4B6EFBB-1EB1-954E-9AE4-D85BAF0DDC29}"/>
    <dgm:cxn modelId="{411FFF5D-0E0D-9C46-AAE2-CCF3CF64FC0F}" type="presOf" srcId="{49C2B068-8124-8544-93B4-DC33C2E3B0DE}" destId="{0439E3CE-4523-274F-BFD1-1A3B064431CF}" srcOrd="0" destOrd="5" presId="urn:microsoft.com/office/officeart/2005/8/layout/vList2"/>
    <dgm:cxn modelId="{5DE66A5E-23BA-3147-A663-6F544BDEAB9F}" srcId="{960424A7-92CF-4A0C-9B13-7902416DE1F9}" destId="{865D0353-41CB-D241-A04B-A25E25337B11}" srcOrd="0" destOrd="0" parTransId="{A42E1E5B-2E7B-F544-B824-AD948AB02C94}" sibTransId="{82E21E02-B889-924F-B7FF-F0F809298773}"/>
    <dgm:cxn modelId="{F97F0360-B7F8-4345-9766-C4B2821048B0}" type="presOf" srcId="{67A33EE3-1D55-1846-8246-E921F00AA5D9}" destId="{0439E3CE-4523-274F-BFD1-1A3B064431CF}" srcOrd="0" destOrd="0" presId="urn:microsoft.com/office/officeart/2005/8/layout/vList2"/>
    <dgm:cxn modelId="{BFA69A61-F0F8-9A4B-84E6-E69B24D84723}" type="presOf" srcId="{960424A7-92CF-4A0C-9B13-7902416DE1F9}" destId="{662940FF-6B3E-DE4C-AED7-6FC745DA8819}" srcOrd="0" destOrd="0" presId="urn:microsoft.com/office/officeart/2005/8/layout/vList2"/>
    <dgm:cxn modelId="{C4FE1069-4C46-6049-80B1-DB18FCAF89AF}" type="presOf" srcId="{09BEC084-CB5C-2544-B758-70BFA200EFB5}" destId="{0439E3CE-4523-274F-BFD1-1A3B064431CF}" srcOrd="0" destOrd="1" presId="urn:microsoft.com/office/officeart/2005/8/layout/vList2"/>
    <dgm:cxn modelId="{C8B0537E-AB28-504A-8B13-BFA308CA5B92}" srcId="{865D0353-41CB-D241-A04B-A25E25337B11}" destId="{EAE3E24E-6AF5-5B40-B0C3-4C9D7641D4A1}" srcOrd="3" destOrd="0" parTransId="{166AAF51-4F35-784B-BB07-BC122E57AF25}" sibTransId="{763327BA-D82C-7E46-BD30-03D8D656AB48}"/>
    <dgm:cxn modelId="{874BD588-FA9A-5B42-937E-65FD2D3B3971}" srcId="{865D0353-41CB-D241-A04B-A25E25337B11}" destId="{09BEC084-CB5C-2544-B758-70BFA200EFB5}" srcOrd="1" destOrd="0" parTransId="{671F57D5-D9D0-6F41-A3E8-30D11C52CFC1}" sibTransId="{CDD23265-84FF-9649-A125-F0429AA99282}"/>
    <dgm:cxn modelId="{9D559F9A-E5F9-9541-A86B-68C7EB224A53}" srcId="{865D0353-41CB-D241-A04B-A25E25337B11}" destId="{FEDE3990-7115-A346-9C88-6B01F6A43577}" srcOrd="10" destOrd="0" parTransId="{93BA67EF-DE09-A74F-8AE7-2B9BD93D19A9}" sibTransId="{3785B16B-7744-4F46-9687-1C329BE207C5}"/>
    <dgm:cxn modelId="{4ADD059B-55C0-ED43-B25F-15587B6297C4}" type="presOf" srcId="{9DE26377-BC44-5D4D-84EB-34A3CA439568}" destId="{0439E3CE-4523-274F-BFD1-1A3B064431CF}" srcOrd="0" destOrd="7" presId="urn:microsoft.com/office/officeart/2005/8/layout/vList2"/>
    <dgm:cxn modelId="{83FDA7A9-A488-9142-957C-046B8C454E3B}" srcId="{865D0353-41CB-D241-A04B-A25E25337B11}" destId="{FE9DA716-5007-254A-8034-406370B05981}" srcOrd="4" destOrd="0" parTransId="{50919B76-6029-214F-97DE-05D211C6C090}" sibTransId="{2362BEF4-9638-644C-A99F-323EE5FA430B}"/>
    <dgm:cxn modelId="{EB1EF2B4-4CCD-5545-9898-A9AA64ABDA79}" type="presOf" srcId="{31126AD5-8C4C-1F43-83B7-3F2AA8A58C56}" destId="{0439E3CE-4523-274F-BFD1-1A3B064431CF}" srcOrd="0" destOrd="6" presId="urn:microsoft.com/office/officeart/2005/8/layout/vList2"/>
    <dgm:cxn modelId="{3482F3B6-4675-E04E-98DF-8545411A5AEF}" srcId="{865D0353-41CB-D241-A04B-A25E25337B11}" destId="{49C2B068-8124-8544-93B4-DC33C2E3B0DE}" srcOrd="5" destOrd="0" parTransId="{A443616F-D41B-9842-810A-A1FA97452552}" sibTransId="{6B2D2A9C-62FB-2D44-B539-E18A748F1BF3}"/>
    <dgm:cxn modelId="{A961EAB7-800D-8A43-B7BF-00AB0913DB83}" type="presOf" srcId="{FEDE3990-7115-A346-9C88-6B01F6A43577}" destId="{0439E3CE-4523-274F-BFD1-1A3B064431CF}" srcOrd="0" destOrd="10" presId="urn:microsoft.com/office/officeart/2005/8/layout/vList2"/>
    <dgm:cxn modelId="{1CE72FBB-69EF-454B-B410-A43206156D47}" srcId="{865D0353-41CB-D241-A04B-A25E25337B11}" destId="{25EB0F0B-EFA3-CC4B-8317-0F4EBEEEE176}" srcOrd="12" destOrd="0" parTransId="{B5075616-78A4-8140-9F20-741048E7B9F1}" sibTransId="{70CBA6E0-1FF6-4A46-AF59-7A0C3ECB98AE}"/>
    <dgm:cxn modelId="{89644EC2-E36E-894E-AF1D-2A75CFF83FB8}" type="presOf" srcId="{06030732-E9FE-6444-82F0-F535714C48EE}" destId="{0439E3CE-4523-274F-BFD1-1A3B064431CF}" srcOrd="0" destOrd="9" presId="urn:microsoft.com/office/officeart/2005/8/layout/vList2"/>
    <dgm:cxn modelId="{D17D6EC2-B8F9-4644-B185-38075250B6AE}" srcId="{865D0353-41CB-D241-A04B-A25E25337B11}" destId="{06126490-99E4-E846-95C7-D000F2E6EF4C}" srcOrd="2" destOrd="0" parTransId="{71DC9C10-2595-A644-9A9D-0548CE1CE726}" sibTransId="{781D2118-944B-5B41-8790-8B4D241DB06A}"/>
    <dgm:cxn modelId="{C88562CD-35F2-5E48-B443-529043D9E3C8}" type="presOf" srcId="{865D0353-41CB-D241-A04B-A25E25337B11}" destId="{71DB4366-9F5A-BA4F-A8F0-260D52F2FE21}" srcOrd="0" destOrd="0" presId="urn:microsoft.com/office/officeart/2005/8/layout/vList2"/>
    <dgm:cxn modelId="{F7297DD5-E446-F646-B982-63855CFC564C}" srcId="{865D0353-41CB-D241-A04B-A25E25337B11}" destId="{31126AD5-8C4C-1F43-83B7-3F2AA8A58C56}" srcOrd="6" destOrd="0" parTransId="{13E392CF-FCCB-CC41-A69F-CBFC95083CA4}" sibTransId="{038CA259-B203-4346-B3AA-8459D93CAE41}"/>
    <dgm:cxn modelId="{1D2C8EE8-1479-514E-8421-286F74D1416C}" type="presOf" srcId="{FE9DA716-5007-254A-8034-406370B05981}" destId="{0439E3CE-4523-274F-BFD1-1A3B064431CF}" srcOrd="0" destOrd="4" presId="urn:microsoft.com/office/officeart/2005/8/layout/vList2"/>
    <dgm:cxn modelId="{53079AF2-F1C4-864F-9159-1734A14112A0}" type="presOf" srcId="{F95757DF-9F8A-FF40-BB22-17AC61345F58}" destId="{0439E3CE-4523-274F-BFD1-1A3B064431CF}" srcOrd="0" destOrd="11" presId="urn:microsoft.com/office/officeart/2005/8/layout/vList2"/>
    <dgm:cxn modelId="{4172BF84-4463-9F4B-840E-4B5DB7A1966C}" type="presParOf" srcId="{662940FF-6B3E-DE4C-AED7-6FC745DA8819}" destId="{71DB4366-9F5A-BA4F-A8F0-260D52F2FE21}" srcOrd="0" destOrd="0" presId="urn:microsoft.com/office/officeart/2005/8/layout/vList2"/>
    <dgm:cxn modelId="{C38CB716-4BA5-6344-ACA6-A2C28B63FA0B}" type="presParOf" srcId="{662940FF-6B3E-DE4C-AED7-6FC745DA8819}" destId="{0439E3CE-4523-274F-BFD1-1A3B064431C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B4366-9F5A-BA4F-A8F0-260D52F2FE21}">
      <dsp:nvSpPr>
        <dsp:cNvPr id="0" name=""/>
        <dsp:cNvSpPr/>
      </dsp:nvSpPr>
      <dsp:spPr>
        <a:xfrm>
          <a:off x="0" y="51761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Module 2: Data Analysis Fundamentals</a:t>
          </a:r>
        </a:p>
      </dsp:txBody>
      <dsp:txXfrm>
        <a:off x="33583" y="85344"/>
        <a:ext cx="6599667" cy="620794"/>
      </dsp:txXfrm>
    </dsp:sp>
    <dsp:sp modelId="{0439E3CE-4523-274F-BFD1-1A3B064431CF}">
      <dsp:nvSpPr>
        <dsp:cNvPr id="0" name=""/>
        <dsp:cNvSpPr/>
      </dsp:nvSpPr>
      <dsp:spPr>
        <a:xfrm>
          <a:off x="0" y="739721"/>
          <a:ext cx="6666833" cy="556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1.	Databases – types and purpose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2.	Tools used to ingest data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3.	Storing and retrieving data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4.	Data Quality and Cleaning Techniques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5.	Data Transformation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6.	Data Integration and ETL Processes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7.	Python Basics for Non-IT Students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a.	Introduction to Python and Its Uses in Data Analytics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b.	Setting Up Python Environment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c.	Basic Python Syntax and Operations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d.	Data Structures: Lists, Tuples, Dictionaries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e.	Importing and Using Libraries (NumPy, Pandas)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f.	Basic Data Manipulation with Pandas</a:t>
          </a:r>
        </a:p>
      </dsp:txBody>
      <dsp:txXfrm>
        <a:off x="0" y="739721"/>
        <a:ext cx="6666833" cy="5564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66608-F7FF-8E40-BC9C-C2E7A617466C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86018-326D-4E46-B6E0-8593F62F1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1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1.	Databases – types and purpose</a:t>
            </a:r>
          </a:p>
          <a:p>
            <a:pPr lvl="0"/>
            <a:r>
              <a:rPr lang="en-US" dirty="0"/>
              <a:t>2.	Tools used to ingest data</a:t>
            </a:r>
          </a:p>
          <a:p>
            <a:pPr lvl="0"/>
            <a:r>
              <a:rPr lang="en-US" dirty="0"/>
              <a:t>3.	Storing and retrieving data</a:t>
            </a:r>
          </a:p>
          <a:p>
            <a:pPr lvl="0"/>
            <a:r>
              <a:rPr lang="en-US" dirty="0"/>
              <a:t>4.	Data Quality and Cleaning Techniques </a:t>
            </a:r>
          </a:p>
          <a:p>
            <a:pPr lvl="0"/>
            <a:r>
              <a:rPr lang="en-US" dirty="0"/>
              <a:t>5.	Data Transformation </a:t>
            </a:r>
          </a:p>
          <a:p>
            <a:pPr lvl="0"/>
            <a:r>
              <a:rPr lang="en-US" dirty="0"/>
              <a:t>6.	Data Integration and ETL Processes </a:t>
            </a:r>
          </a:p>
          <a:p>
            <a:pPr lvl="0"/>
            <a:r>
              <a:rPr lang="en-US" dirty="0"/>
              <a:t>7.	Python Basics for Non-IT Students</a:t>
            </a:r>
          </a:p>
          <a:p>
            <a:pPr lvl="0"/>
            <a:r>
              <a:rPr lang="en-US" dirty="0"/>
              <a:t>a.	Introduction to Python and Its Uses in Data Analytics </a:t>
            </a:r>
          </a:p>
          <a:p>
            <a:pPr lvl="0"/>
            <a:r>
              <a:rPr lang="en-US" dirty="0"/>
              <a:t>b.	Setting Up Python Environment </a:t>
            </a:r>
          </a:p>
          <a:p>
            <a:pPr lvl="0"/>
            <a:r>
              <a:rPr lang="en-US" dirty="0"/>
              <a:t>c.	Basic Python Syntax and Operations </a:t>
            </a:r>
          </a:p>
          <a:p>
            <a:pPr lvl="0"/>
            <a:r>
              <a:rPr lang="en-US" dirty="0"/>
              <a:t>d.	Data Structures: Lists, Tuples, Dictionaries </a:t>
            </a:r>
          </a:p>
          <a:p>
            <a:pPr lvl="0"/>
            <a:r>
              <a:rPr lang="en-US" dirty="0"/>
              <a:t>e.	Importing and Using Libraries (NumPy, Pandas) </a:t>
            </a:r>
          </a:p>
          <a:p>
            <a:pPr lvl="0"/>
            <a:r>
              <a:rPr lang="en-US" dirty="0"/>
              <a:t>f.	Basic Data Manipulation with Pandas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86018-326D-4E46-B6E0-8593F62F1F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88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86018-326D-4E46-B6E0-8593F62F1F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57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86018-326D-4E46-B6E0-8593F62F1F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01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86018-326D-4E46-B6E0-8593F62F1F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39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86018-326D-4E46-B6E0-8593F62F1F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48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5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6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1440"/>
            <a:ext cx="10515600" cy="4815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30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6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9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7467"/>
            <a:ext cx="5181600" cy="48494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27467"/>
            <a:ext cx="5181600" cy="48494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1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3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5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7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9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69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>
                <a:schemeClr val="accent4">
                  <a:hueOff val="-624705"/>
                  <a:lumOff val="1372"/>
                </a:schemeClr>
              </a:buClr>
              <a:buChar char="✦"/>
            </a:lvl1pPr>
            <a:lvl2pPr>
              <a:buClr>
                <a:schemeClr val="accent4">
                  <a:hueOff val="-624705"/>
                  <a:lumOff val="1372"/>
                </a:schemeClr>
              </a:buClr>
              <a:buChar char="✦"/>
            </a:lvl2pPr>
            <a:lvl3pPr>
              <a:buClr>
                <a:schemeClr val="accent4">
                  <a:hueOff val="-624705"/>
                  <a:lumOff val="1372"/>
                </a:schemeClr>
              </a:buClr>
              <a:buChar char="✦"/>
            </a:lvl3pPr>
            <a:lvl4pPr>
              <a:buClr>
                <a:schemeClr val="accent4">
                  <a:hueOff val="-624705"/>
                  <a:lumOff val="1372"/>
                </a:schemeClr>
              </a:buClr>
              <a:buChar char="✦"/>
            </a:lvl4pPr>
            <a:lvl5pPr>
              <a:buClr>
                <a:schemeClr val="accent4">
                  <a:hueOff val="-624705"/>
                  <a:lumOff val="1372"/>
                </a:schemeClr>
              </a:buClr>
              <a:buChar char="✦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19976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105156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70FBE-6C01-EF45-A6D1-AC4E9C2008C7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DD73B-B1CE-B447-A395-01F8B288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5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8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6.png"/><Relationship Id="rId5" Type="http://schemas.openxmlformats.org/officeDocument/2006/relationships/tags" Target="../tags/tag6.xml"/><Relationship Id="rId10" Type="http://schemas.openxmlformats.org/officeDocument/2006/relationships/image" Target="../media/image5.svg"/><Relationship Id="rId4" Type="http://schemas.openxmlformats.org/officeDocument/2006/relationships/tags" Target="../tags/tag5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378-DD9E-5F7D-55C5-0E1F3D8D1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082" y="2360010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dirty="0"/>
              <a:t>Data Analytics for business growth and sustainability in the workforce</a:t>
            </a:r>
            <a:r>
              <a:rPr lang="en-US" sz="4000" dirty="0">
                <a:effectLst/>
              </a:rPr>
              <a:t> 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A4842-3EAF-E09E-0444-73E721F17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386" y="1521177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K-Youth Training Program</a:t>
            </a:r>
          </a:p>
        </p:txBody>
      </p:sp>
      <p:pic>
        <p:nvPicPr>
          <p:cNvPr id="22" name="Graphic 21" descr="Bar chart">
            <a:extLst>
              <a:ext uri="{FF2B5EF4-FFF2-40B4-BE49-F238E27FC236}">
                <a16:creationId xmlns:a16="http://schemas.microsoft.com/office/drawing/2014/main" id="{1295DE87-7067-D059-7407-3CC103E90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937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Best Big Data Analytics Training in Chennai|Enroll Now">
            <a:extLst>
              <a:ext uri="{FF2B5EF4-FFF2-40B4-BE49-F238E27FC236}">
                <a16:creationId xmlns:a16="http://schemas.microsoft.com/office/drawing/2014/main" id="{16E94F30-FEB2-5FE2-0D6F-ECF104FBE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9" b="1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DF26ED5-A000-226D-2BAB-0BCD0231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Module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63C7-BF61-4419-FA6F-17E5F1012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Data Analysis Fundamentals</a:t>
            </a:r>
          </a:p>
        </p:txBody>
      </p:sp>
      <p:sp>
        <p:nvSpPr>
          <p:cNvPr id="512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6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9F9D9-31AB-C188-96A9-6BCE55220927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CE0B060-3628-731C-D100-5EAD82243E9C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9BB530-1835-D331-D6E6-68CB50DB2B1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did you find interesting about yesterday’s class?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DC6438-A9BC-9FF3-0A3A-EC5236A7622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03733A0-0B55-79E3-E64D-3819E91BFBA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F89D57-DBD0-C822-95B3-460F240B677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955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F4D5CA-57F2-3DB6-8277-F787540AD41E}"/>
              </a:ext>
            </a:extLst>
          </p:cNvPr>
          <p:cNvSpPr/>
          <p:nvPr/>
        </p:nvSpPr>
        <p:spPr>
          <a:xfrm>
            <a:off x="0" y="-130629"/>
            <a:ext cx="4517571" cy="711925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299D82-3FD9-DA27-F22D-E0C865773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Module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985561-3861-0D40-A444-B9EBC7511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14722DA3-2233-C846-FC6A-7864B7504E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4929306"/>
              </p:ext>
            </p:extLst>
          </p:nvPr>
        </p:nvGraphicFramePr>
        <p:xfrm>
          <a:off x="5376106" y="457200"/>
          <a:ext cx="6666833" cy="6355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E93C34B-125B-08DC-380B-F0D8CC0238C1}"/>
              </a:ext>
            </a:extLst>
          </p:cNvPr>
          <p:cNvSpPr/>
          <p:nvPr/>
        </p:nvSpPr>
        <p:spPr>
          <a:xfrm>
            <a:off x="5525167" y="3429000"/>
            <a:ext cx="6666833" cy="3415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8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DB4366-9F5A-BA4F-A8F0-260D52F2FE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39E3CE-4523-274F-BFD1-1A3B064431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trings and m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Strings and math</a:t>
            </a:r>
          </a:p>
        </p:txBody>
      </p:sp>
      <p:sp>
        <p:nvSpPr>
          <p:cNvPr id="127" name="Strings can be any alphanumerics…"/>
          <p:cNvSpPr txBox="1">
            <a:spLocks noGrp="1"/>
          </p:cNvSpPr>
          <p:nvPr>
            <p:ph type="body" idx="1"/>
          </p:nvPr>
        </p:nvSpPr>
        <p:spPr>
          <a:xfrm>
            <a:off x="6077680" y="1574800"/>
            <a:ext cx="5269771" cy="4648200"/>
          </a:xfrm>
          <a:prstGeom prst="rect">
            <a:avLst/>
          </a:prstGeom>
        </p:spPr>
        <p:txBody>
          <a:bodyPr/>
          <a:lstStyle/>
          <a:p>
            <a:r>
              <a:t>Strings can be any alphanumerics</a:t>
            </a:r>
          </a:p>
          <a:p>
            <a:r>
              <a:t>Can use single, double quotes, or three double quote</a:t>
            </a:r>
          </a:p>
          <a:p>
            <a:r>
              <a:t>Concatenate using + or ,</a:t>
            </a:r>
          </a:p>
          <a:p>
            <a:r>
              <a:t>Cannot mix multiple data types during concatenation</a:t>
            </a:r>
          </a:p>
        </p:txBody>
      </p:sp>
      <p:sp>
        <p:nvSpPr>
          <p:cNvPr id="126" name="print('Hello World')…"/>
          <p:cNvSpPr txBox="1"/>
          <p:nvPr/>
        </p:nvSpPr>
        <p:spPr>
          <a:xfrm>
            <a:off x="1223691" y="1279877"/>
            <a:ext cx="3113400" cy="5336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'Hello World'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"Double quotes"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'</a:t>
            </a:r>
            <a:r>
              <a:rPr sz="1600" b="1" dirty="0" err="1"/>
              <a:t>concatena</a:t>
            </a:r>
            <a:r>
              <a:rPr sz="1600" b="1" dirty="0"/>
              <a:t>'</a:t>
            </a:r>
            <a:r>
              <a:rPr sz="1600" b="1" dirty="0">
                <a:solidFill>
                  <a:srgbClr val="D4D4D4"/>
                </a:solidFill>
              </a:rPr>
              <a:t>+</a:t>
            </a:r>
            <a:r>
              <a:rPr sz="1600" b="1" dirty="0"/>
              <a:t>'</a:t>
            </a:r>
            <a:r>
              <a:rPr sz="1600" b="1" dirty="0" err="1"/>
              <a:t>tion</a:t>
            </a:r>
            <a:r>
              <a:rPr sz="1600" b="1" dirty="0"/>
              <a:t>'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'</a:t>
            </a:r>
            <a:r>
              <a:rPr sz="1600" b="1" dirty="0" err="1"/>
              <a:t>hello'</a:t>
            </a:r>
            <a:r>
              <a:rPr sz="1600" b="1" dirty="0" err="1">
                <a:solidFill>
                  <a:srgbClr val="D4D4D4"/>
                </a:solidFill>
              </a:rPr>
              <a:t>,</a:t>
            </a:r>
            <a:r>
              <a:rPr sz="1600" b="1" dirty="0" err="1"/>
              <a:t>'there</a:t>
            </a:r>
            <a:r>
              <a:rPr sz="1600" b="1" dirty="0"/>
              <a:t>'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CE9178"/>
                </a:solidFill>
              </a:rPr>
              <a:t>'I</a:t>
            </a:r>
            <a:r>
              <a:rPr sz="1600" b="1" dirty="0">
                <a:solidFill>
                  <a:srgbClr val="D7BA7D"/>
                </a:solidFill>
              </a:rPr>
              <a:t>\'</a:t>
            </a:r>
            <a:r>
              <a:rPr sz="1600" b="1" dirty="0">
                <a:solidFill>
                  <a:srgbClr val="CE9178"/>
                </a:solidFill>
              </a:rPr>
              <a:t>m 5'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"I'm 5"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'He said "hi"'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chemeClr val="accent5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#Error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>
                <a:solidFill>
                  <a:srgbClr val="569CD6"/>
                </a:solidFill>
              </a:rPr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/>
              <a:t>'Hi there'</a:t>
            </a:r>
            <a:r>
              <a:rPr sz="1600" b="1" dirty="0">
                <a:solidFill>
                  <a:srgbClr val="D4D4D4"/>
                </a:solidFill>
              </a:rPr>
              <a:t> + </a:t>
            </a:r>
            <a:r>
              <a:rPr sz="1600" b="1" dirty="0">
                <a:solidFill>
                  <a:srgbClr val="B5CEA8"/>
                </a:solidFill>
              </a:rPr>
              <a:t>5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dirty="0">
              <a:solidFill>
                <a:srgbClr val="D4D4D4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trings and m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Strings and math</a:t>
            </a:r>
          </a:p>
        </p:txBody>
      </p:sp>
      <p:sp>
        <p:nvSpPr>
          <p:cNvPr id="131" name="Math operators include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1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288925" indent="-288925" defTabSz="375603">
              <a:spcBef>
                <a:spcPts val="2650"/>
              </a:spcBef>
              <a:defRPr sz="4368"/>
            </a:pPr>
            <a:r>
              <a:t>Math operators include </a:t>
            </a:r>
          </a:p>
          <a:p>
            <a:pPr marL="288925" indent="-288925" defTabSz="375603">
              <a:spcBef>
                <a:spcPts val="2650"/>
              </a:spcBef>
              <a:defRPr sz="4368"/>
            </a:pPr>
            <a:r>
              <a:t>+ Addition</a:t>
            </a:r>
          </a:p>
          <a:p>
            <a:pPr marL="288925" indent="-288925" defTabSz="375603">
              <a:spcBef>
                <a:spcPts val="2650"/>
              </a:spcBef>
              <a:defRPr sz="4368"/>
            </a:pPr>
            <a:r>
              <a:t>- Subtraction</a:t>
            </a:r>
          </a:p>
          <a:p>
            <a:pPr marL="288925" indent="-288925" defTabSz="375603">
              <a:spcBef>
                <a:spcPts val="2650"/>
              </a:spcBef>
              <a:defRPr sz="4368"/>
            </a:pPr>
            <a:r>
              <a:t>/ Division</a:t>
            </a:r>
          </a:p>
          <a:p>
            <a:pPr marL="288925" indent="-288925" defTabSz="375603">
              <a:spcBef>
                <a:spcPts val="2650"/>
              </a:spcBef>
              <a:defRPr sz="4368"/>
            </a:pPr>
            <a:r>
              <a:t>% Modulus</a:t>
            </a:r>
          </a:p>
          <a:p>
            <a:pPr marL="288925" indent="-288925" defTabSz="375603">
              <a:spcBef>
                <a:spcPts val="2650"/>
              </a:spcBef>
              <a:defRPr sz="4368"/>
            </a:pPr>
            <a:r>
              <a:t>** Exponent</a:t>
            </a:r>
          </a:p>
          <a:p>
            <a:pPr marL="288925" indent="-288925" defTabSz="375603">
              <a:spcBef>
                <a:spcPts val="2650"/>
              </a:spcBef>
              <a:defRPr sz="4368"/>
            </a:pPr>
            <a:r>
              <a:t>// Floor Division</a:t>
            </a:r>
          </a:p>
        </p:txBody>
      </p:sp>
      <p:sp>
        <p:nvSpPr>
          <p:cNvPr id="130" name="print(1+3)…"/>
          <p:cNvSpPr txBox="1"/>
          <p:nvPr/>
        </p:nvSpPr>
        <p:spPr>
          <a:xfrm>
            <a:off x="1549459" y="1555328"/>
            <a:ext cx="3113400" cy="4451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1</a:t>
            </a:r>
            <a:r>
              <a:rPr sz="1600" b="1" dirty="0">
                <a:solidFill>
                  <a:srgbClr val="D4D4D4"/>
                </a:solidFill>
              </a:rPr>
              <a:t>+</a:t>
            </a:r>
            <a:r>
              <a:rPr sz="1600" b="1" dirty="0">
                <a:solidFill>
                  <a:srgbClr val="B5CEA8"/>
                </a:solidFill>
              </a:rPr>
              <a:t>3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1</a:t>
            </a:r>
            <a:r>
              <a:rPr sz="1600" b="1" dirty="0">
                <a:solidFill>
                  <a:srgbClr val="D4D4D4"/>
                </a:solidFill>
              </a:rPr>
              <a:t>-</a:t>
            </a:r>
            <a:r>
              <a:rPr sz="1600" b="1" dirty="0">
                <a:solidFill>
                  <a:srgbClr val="B5CEA8"/>
                </a:solidFill>
              </a:rPr>
              <a:t>3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1</a:t>
            </a:r>
            <a:r>
              <a:rPr sz="1600" b="1" dirty="0">
                <a:solidFill>
                  <a:srgbClr val="D4D4D4"/>
                </a:solidFill>
              </a:rPr>
              <a:t>*</a:t>
            </a:r>
            <a:r>
              <a:rPr sz="1600" b="1" dirty="0">
                <a:solidFill>
                  <a:srgbClr val="B5CEA8"/>
                </a:solidFill>
              </a:rPr>
              <a:t>3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1</a:t>
            </a:r>
            <a:r>
              <a:rPr sz="1600" b="1" dirty="0">
                <a:solidFill>
                  <a:srgbClr val="D4D4D4"/>
                </a:solidFill>
              </a:rPr>
              <a:t>/</a:t>
            </a:r>
            <a:r>
              <a:rPr sz="1600" b="1" dirty="0">
                <a:solidFill>
                  <a:srgbClr val="B5CEA8"/>
                </a:solidFill>
              </a:rPr>
              <a:t>3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1.5</a:t>
            </a:r>
            <a:r>
              <a:rPr sz="1600" b="1" dirty="0">
                <a:solidFill>
                  <a:srgbClr val="D4D4D4"/>
                </a:solidFill>
              </a:rPr>
              <a:t>/</a:t>
            </a:r>
            <a:r>
              <a:rPr sz="1600" b="1" dirty="0">
                <a:solidFill>
                  <a:srgbClr val="B5CEA8"/>
                </a:solidFill>
              </a:rPr>
              <a:t>3.6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4</a:t>
            </a:r>
            <a:r>
              <a:rPr sz="1600" b="1" dirty="0">
                <a:solidFill>
                  <a:srgbClr val="D4D4D4"/>
                </a:solidFill>
              </a:rPr>
              <a:t>**</a:t>
            </a:r>
            <a:r>
              <a:rPr sz="1600" b="1" dirty="0">
                <a:solidFill>
                  <a:srgbClr val="B5CEA8"/>
                </a:solidFill>
              </a:rPr>
              <a:t>2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D4D4D4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5</a:t>
            </a:r>
            <a:r>
              <a:rPr sz="1600" b="1" dirty="0">
                <a:solidFill>
                  <a:srgbClr val="D4D4D4"/>
                </a:solidFill>
              </a:rPr>
              <a:t>%</a:t>
            </a:r>
            <a:r>
              <a:rPr sz="1600" b="1" dirty="0">
                <a:solidFill>
                  <a:srgbClr val="B5CEA8"/>
                </a:solidFill>
              </a:rPr>
              <a:t>2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CE9178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>
              <a:solidFill>
                <a:srgbClr val="D4D4D4"/>
              </a:solidFill>
            </a:endParaRP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</a:t>
            </a:r>
            <a:r>
              <a:rPr sz="1600" b="1" dirty="0">
                <a:solidFill>
                  <a:srgbClr val="D4D4D4"/>
                </a:solidFill>
              </a:rPr>
              <a:t>(</a:t>
            </a:r>
            <a:r>
              <a:rPr sz="1600" b="1" dirty="0">
                <a:solidFill>
                  <a:srgbClr val="B5CEA8"/>
                </a:solidFill>
              </a:rPr>
              <a:t>5</a:t>
            </a:r>
            <a:r>
              <a:rPr sz="1600" b="1" dirty="0">
                <a:solidFill>
                  <a:srgbClr val="D4D4D4"/>
                </a:solidFill>
              </a:rPr>
              <a:t>//</a:t>
            </a:r>
            <a:r>
              <a:rPr sz="1600" b="1" dirty="0">
                <a:solidFill>
                  <a:srgbClr val="B5CEA8"/>
                </a:solidFill>
              </a:rPr>
              <a:t>2</a:t>
            </a:r>
            <a:r>
              <a:rPr sz="1600" b="1" dirty="0">
                <a:solidFill>
                  <a:srgbClr val="D4D4D4"/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Variables</a:t>
            </a:r>
          </a:p>
        </p:txBody>
      </p:sp>
      <p:sp>
        <p:nvSpPr>
          <p:cNvPr id="135" name="A variable can be assigned or bound to any value.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A variable can be assigned or bound to any value. </a:t>
            </a:r>
          </a:p>
          <a:p>
            <a:r>
              <a:t>Data types are automatically casted</a:t>
            </a:r>
          </a:p>
          <a:p>
            <a:r>
              <a:t>Assign multiple variables on a single line</a:t>
            </a:r>
          </a:p>
        </p:txBody>
      </p:sp>
      <p:sp>
        <p:nvSpPr>
          <p:cNvPr id="134" name="exVar = 100…"/>
          <p:cNvSpPr txBox="1"/>
          <p:nvPr/>
        </p:nvSpPr>
        <p:spPr>
          <a:xfrm>
            <a:off x="1335203" y="1067365"/>
            <a:ext cx="3113400" cy="5336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 err="1"/>
              <a:t>exVar</a:t>
            </a:r>
            <a:r>
              <a:rPr sz="1600" b="1" dirty="0"/>
              <a:t> = 100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print(</a:t>
            </a:r>
            <a:r>
              <a:rPr sz="1600" b="1" dirty="0" err="1"/>
              <a:t>exVar</a:t>
            </a:r>
            <a:r>
              <a:rPr sz="1600" b="1" dirty="0"/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 err="1"/>
              <a:t>opVar</a:t>
            </a:r>
            <a:r>
              <a:rPr sz="1600" b="1" dirty="0"/>
              <a:t> = </a:t>
            </a:r>
            <a:r>
              <a:rPr sz="1600" b="1" dirty="0" err="1"/>
              <a:t>exVar</a:t>
            </a:r>
            <a:r>
              <a:rPr sz="1600" b="1" dirty="0"/>
              <a:t> / 5.3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print(</a:t>
            </a:r>
            <a:r>
              <a:rPr sz="1600" b="1" dirty="0" err="1"/>
              <a:t>opVar</a:t>
            </a:r>
            <a:r>
              <a:rPr sz="1600" b="1" dirty="0"/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_100ma = 5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print(_100ma)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 err="1"/>
              <a:t>X,y</a:t>
            </a:r>
            <a:r>
              <a:rPr sz="1600" b="1" dirty="0"/>
              <a:t> = 1,3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type(</a:t>
            </a:r>
            <a:r>
              <a:rPr sz="1600" b="1" dirty="0" err="1"/>
              <a:t>exVar</a:t>
            </a:r>
            <a:r>
              <a:rPr sz="1600" b="1" dirty="0"/>
              <a:t>)</a:t>
            </a:r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endParaRPr sz="1600" b="1" dirty="0"/>
          </a:p>
          <a:p>
            <a:pPr defTabSz="228600">
              <a:lnSpc>
                <a:spcPts val="2300"/>
              </a:lnSpc>
              <a:defRPr sz="2400" b="0">
                <a:solidFill>
                  <a:srgbClr val="569CD6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600" b="1" dirty="0"/>
              <a:t>type(</a:t>
            </a:r>
            <a:r>
              <a:rPr sz="1600" b="1" dirty="0" err="1"/>
              <a:t>opVar</a:t>
            </a:r>
            <a:r>
              <a:rPr sz="1600" b="1" dirty="0"/>
              <a:t>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While lo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While loop</a:t>
            </a:r>
          </a:p>
        </p:txBody>
      </p:sp>
      <p:sp>
        <p:nvSpPr>
          <p:cNvPr id="139" name="Handles repeated execution of statements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1" cy="4648200"/>
          </a:xfrm>
          <a:prstGeom prst="rect">
            <a:avLst/>
          </a:prstGeom>
        </p:spPr>
        <p:txBody>
          <a:bodyPr/>
          <a:lstStyle/>
          <a:p>
            <a:r>
              <a:t>Handles repeated execution of statements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E7266-C096-AE03-093C-0FBE996795DF}"/>
              </a:ext>
            </a:extLst>
          </p:cNvPr>
          <p:cNvSpPr txBox="1">
            <a:spLocks/>
          </p:cNvSpPr>
          <p:nvPr/>
        </p:nvSpPr>
        <p:spPr>
          <a:xfrm>
            <a:off x="631068" y="1431948"/>
            <a:ext cx="6096000" cy="441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condition 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condition &lt;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print(condition)</a:t>
            </a:r>
          </a:p>
          <a:p>
            <a:pPr lvl="1"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multiple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lines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can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go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here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	'''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#condition = condition + 1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condition +=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condition 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#while condition &lt; 15: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print('True')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'infinite'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For lo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loop</a:t>
            </a:r>
          </a:p>
        </p:txBody>
      </p:sp>
      <p:sp>
        <p:nvSpPr>
          <p:cNvPr id="142" name="Handles repeated execution of statements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rPr dirty="0"/>
              <a:t>Handles repeated execution of statements</a:t>
            </a:r>
          </a:p>
        </p:txBody>
      </p:sp>
      <p:sp>
        <p:nvSpPr>
          <p:cNvPr id="143" name="exampleList = [1,6,7,3,6,9,0]…"/>
          <p:cNvSpPr txBox="1"/>
          <p:nvPr/>
        </p:nvSpPr>
        <p:spPr>
          <a:xfrm>
            <a:off x="392859" y="1741359"/>
            <a:ext cx="4095673" cy="3375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exampleList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thing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exampleList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print(thing)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range(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If stat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statement</a:t>
            </a:r>
          </a:p>
        </p:txBody>
      </p:sp>
      <p:sp>
        <p:nvSpPr>
          <p:cNvPr id="146" name="Conditional execution of statements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Conditional execution of statements </a:t>
            </a:r>
          </a:p>
        </p:txBody>
      </p:sp>
      <p:sp>
        <p:nvSpPr>
          <p:cNvPr id="147" name="x = 2…"/>
          <p:cNvSpPr txBox="1"/>
          <p:nvPr/>
        </p:nvSpPr>
        <p:spPr>
          <a:xfrm>
            <a:off x="635229" y="1654635"/>
            <a:ext cx="5443798" cy="4180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z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&gt; y: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greater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&lt; y: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less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== y: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the same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as'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cannot do this: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#if x &lt; '2':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   print(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x,'is</a:t>
            </a: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 less than 2')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&lt;= y: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less than or equal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to'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z &gt; y &gt; x: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z,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greater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'which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is greater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,x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If .. else stat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.. else statement</a:t>
            </a:r>
          </a:p>
        </p:txBody>
      </p:sp>
      <p:sp>
        <p:nvSpPr>
          <p:cNvPr id="150" name="Conditional execution of statements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Conditional execution of statements </a:t>
            </a:r>
          </a:p>
        </p:txBody>
      </p:sp>
      <p:sp>
        <p:nvSpPr>
          <p:cNvPr id="151" name="x = 13…"/>
          <p:cNvSpPr txBox="1"/>
          <p:nvPr/>
        </p:nvSpPr>
        <p:spPr>
          <a:xfrm>
            <a:off x="844550" y="1903157"/>
            <a:ext cx="3595536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lnSpc>
                <a:spcPts val="13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13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&lt; y: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less 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&gt; y: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greater 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not less 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If .. elif .. else stat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.. elif .. else statement</a:t>
            </a:r>
          </a:p>
        </p:txBody>
      </p:sp>
      <p:sp>
        <p:nvSpPr>
          <p:cNvPr id="154" name="Conditional execution of statements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Conditional execution of statements </a:t>
            </a:r>
          </a:p>
        </p:txBody>
      </p:sp>
      <p:sp>
        <p:nvSpPr>
          <p:cNvPr id="155" name="x = 3…"/>
          <p:cNvSpPr txBox="1"/>
          <p:nvPr/>
        </p:nvSpPr>
        <p:spPr>
          <a:xfrm>
            <a:off x="844550" y="1574800"/>
            <a:ext cx="3770263" cy="2923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z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&lt; y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&gt; z: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'something here was the case'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&lt; z: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less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,z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y &lt; z: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less 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,z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'nothing was the case'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Functions</a:t>
            </a:r>
          </a:p>
        </p:txBody>
      </p:sp>
      <p:sp>
        <p:nvSpPr>
          <p:cNvPr id="158" name="Core building block of applications and modules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Core building block of applications and modules</a:t>
            </a:r>
          </a:p>
          <a:p>
            <a:r>
              <a:t>Reusable functionality that can be called anywhere within the application</a:t>
            </a:r>
          </a:p>
        </p:txBody>
      </p:sp>
      <p:sp>
        <p:nvSpPr>
          <p:cNvPr id="159" name="def example():…"/>
          <p:cNvSpPr txBox="1"/>
          <p:nvPr/>
        </p:nvSpPr>
        <p:spPr>
          <a:xfrm>
            <a:off x="492125" y="1781113"/>
            <a:ext cx="4124527" cy="2390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example():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x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y =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x+y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 &lt; y: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print(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'is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less 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than'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main():</a:t>
            </a:r>
          </a:p>
          <a:p>
            <a:pPr>
              <a:lnSpc>
                <a:spcPts val="135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example()</a:t>
            </a:r>
          </a:p>
          <a:p>
            <a:pPr>
              <a:lnSpc>
                <a:spcPts val="1350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Functions</a:t>
            </a:r>
          </a:p>
        </p:txBody>
      </p:sp>
      <p:sp>
        <p:nvSpPr>
          <p:cNvPr id="162" name="Functions can contain parameters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Functions can contain parameters</a:t>
            </a:r>
          </a:p>
          <a:p>
            <a:r>
              <a:t>Parameters can be used to perform actions on the values passed</a:t>
            </a:r>
          </a:p>
          <a:p>
            <a:r>
              <a:t>Functions can return values with the “return” keyword or it returns None</a:t>
            </a:r>
          </a:p>
        </p:txBody>
      </p:sp>
      <p:sp>
        <p:nvSpPr>
          <p:cNvPr id="163" name="def website(font='TNR',…"/>
          <p:cNvSpPr txBox="1"/>
          <p:nvPr/>
        </p:nvSpPr>
        <p:spPr>
          <a:xfrm>
            <a:off x="838200" y="2105660"/>
            <a:ext cx="3584315" cy="2923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website(font=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'TNR'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background_color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'white'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font:'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,font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bg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:'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background_color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website(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TNR'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'grey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addit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result = x + y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result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addit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Variable scop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Variable scope</a:t>
            </a:r>
          </a:p>
        </p:txBody>
      </p:sp>
      <p:sp>
        <p:nvSpPr>
          <p:cNvPr id="166" name="Variables can have multiple scopes depending on where there are defined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Variables can have multiple scopes depending on where there are defined</a:t>
            </a:r>
          </a:p>
          <a:p>
            <a:r>
              <a:t>Global and local scope</a:t>
            </a:r>
          </a:p>
        </p:txBody>
      </p:sp>
      <p:sp>
        <p:nvSpPr>
          <p:cNvPr id="2" name="x = 6…">
            <a:extLst>
              <a:ext uri="{FF2B5EF4-FFF2-40B4-BE49-F238E27FC236}">
                <a16:creationId xmlns:a16="http://schemas.microsoft.com/office/drawing/2014/main" id="{32A894A1-EEAB-685C-C3A7-FA19F2682B01}"/>
              </a:ext>
            </a:extLst>
          </p:cNvPr>
          <p:cNvSpPr txBox="1"/>
          <p:nvPr/>
        </p:nvSpPr>
        <p:spPr>
          <a:xfrm>
            <a:off x="838200" y="1356360"/>
            <a:ext cx="3136900" cy="488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example3():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global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x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x +=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print(x)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example():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z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print(z)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cannot do this: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#print(z)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example2():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z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print(z)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y = x +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print(y)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y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example2()</a:t>
            </a: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Basic Debug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Basic Debugging</a:t>
            </a:r>
          </a:p>
        </p:txBody>
      </p:sp>
      <p:sp>
        <p:nvSpPr>
          <p:cNvPr id="170" name="Understanding basic errors and how to fix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Understanding basic errors and how to fix</a:t>
            </a:r>
          </a:p>
          <a:p>
            <a:r>
              <a:t>Common mistakes can be easily understood and fixed</a:t>
            </a:r>
          </a:p>
        </p:txBody>
      </p:sp>
      <p:sp>
        <p:nvSpPr>
          <p:cNvPr id="171" name="print('starting here')…"/>
          <p:cNvSpPr txBox="1"/>
          <p:nvPr/>
        </p:nvSpPr>
        <p:spPr>
          <a:xfrm>
            <a:off x="844550" y="1039143"/>
            <a:ext cx="3810338" cy="572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'starting here'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NameError</a:t>
            </a:r>
            <a:r>
              <a:rPr 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varaible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= 55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print(variable)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Expected an indent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'''def func1():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def func2():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   print(2)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Unexpected Indent: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def task():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   print('1')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print('2')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   print('3')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EOL string literal: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print('whoops we never closed this)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#EOF!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[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52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250"/>
              </a:lnSpc>
            </a:pP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Writing to a fi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Writing to a file</a:t>
            </a:r>
          </a:p>
        </p:txBody>
      </p:sp>
      <p:sp>
        <p:nvSpPr>
          <p:cNvPr id="174" name="Writing to a file is a straightforward using option ‘w’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Writing to a file is a straightforward using option ‘w’</a:t>
            </a:r>
          </a:p>
          <a:p>
            <a:r>
              <a:t>Remember to close the file after the open operation</a:t>
            </a:r>
          </a:p>
          <a:p>
            <a:r>
              <a:t>Appending to a file use the option ‘a’</a:t>
            </a:r>
          </a:p>
        </p:txBody>
      </p:sp>
      <p:sp>
        <p:nvSpPr>
          <p:cNvPr id="175" name="writeMe = 'Example text'…"/>
          <p:cNvSpPr txBox="1"/>
          <p:nvPr/>
        </p:nvSpPr>
        <p:spPr>
          <a:xfrm>
            <a:off x="844550" y="1574800"/>
            <a:ext cx="4239943" cy="4144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writeMe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'Example text'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open(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exampleWrite.txt'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'w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saveFile.write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writeMe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saveFile.close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appendMe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'even more text'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open(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exampleFile.txt'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'a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saveFile.write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'\n'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saveFile.write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appendMe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saveFile.close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ading from a fi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Reading from a file</a:t>
            </a:r>
          </a:p>
        </p:txBody>
      </p:sp>
      <p:sp>
        <p:nvSpPr>
          <p:cNvPr id="178" name="Reading for a file use the ‘r’ option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Reading for a file use the ‘r’ option</a:t>
            </a:r>
          </a:p>
          <a:p>
            <a:r>
              <a:t>You can read as a stream or lines </a:t>
            </a:r>
          </a:p>
        </p:txBody>
      </p:sp>
      <p:sp>
        <p:nvSpPr>
          <p:cNvPr id="179" name="readMe = open('exampleFile.txt','r').read()…"/>
          <p:cNvSpPr txBox="1"/>
          <p:nvPr/>
        </p:nvSpPr>
        <p:spPr>
          <a:xfrm>
            <a:off x="782045" y="1803400"/>
            <a:ext cx="4214295" cy="219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readMe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open(</a:t>
            </a:r>
            <a:r>
              <a:rPr lang="en-US" sz="11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exampleFile.txt'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</a:t>
            </a:r>
            <a:r>
              <a:rPr lang="en-US" sz="11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).read()</a:t>
            </a:r>
          </a:p>
          <a:p>
            <a:pPr>
              <a:lnSpc>
                <a:spcPts val="1350"/>
              </a:lnSpc>
            </a:pP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readMe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readMe2 = open(</a:t>
            </a:r>
            <a:r>
              <a:rPr lang="en-US" sz="11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exampleFile.txt'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</a:t>
            </a:r>
            <a:r>
              <a:rPr lang="en-US" sz="11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readlines</a:t>
            </a: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print(readMe2)</a:t>
            </a:r>
          </a:p>
          <a:p>
            <a:pPr>
              <a:lnSpc>
                <a:spcPts val="1350"/>
              </a:lnSpc>
            </a:pP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ading from a CSV fi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Reading from a CSV file</a:t>
            </a:r>
          </a:p>
        </p:txBody>
      </p:sp>
      <p:sp>
        <p:nvSpPr>
          <p:cNvPr id="182" name="Import csv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Import csv</a:t>
            </a:r>
          </a:p>
        </p:txBody>
      </p:sp>
      <p:sp>
        <p:nvSpPr>
          <p:cNvPr id="183" name="import csv…"/>
          <p:cNvSpPr txBox="1"/>
          <p:nvPr/>
        </p:nvSpPr>
        <p:spPr>
          <a:xfrm>
            <a:off x="711200" y="2257425"/>
            <a:ext cx="9932206" cy="3282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csv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open(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employee_birthday.txt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csv_reader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csv.reader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delimiter=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','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row 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csv_reader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== 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print(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'Column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names are 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.join(row)}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+= 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print(</a:t>
            </a:r>
            <a:r>
              <a:rPr lang="en-US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\t{row[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works in the 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{row[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department, and was born in 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{row[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.'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+= 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'Processed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lines.'</a:t>
            </a:r>
            <a: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ading from a CSV fi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Reading from a CSV file</a:t>
            </a:r>
          </a:p>
        </p:txBody>
      </p:sp>
      <p:sp>
        <p:nvSpPr>
          <p:cNvPr id="186" name="Import csv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Import csv</a:t>
            </a:r>
          </a:p>
          <a:p>
            <a:r>
              <a:t>Dictionary reference by key</a:t>
            </a:r>
          </a:p>
        </p:txBody>
      </p:sp>
      <p:sp>
        <p:nvSpPr>
          <p:cNvPr id="187" name="# Dictionary…"/>
          <p:cNvSpPr txBox="1"/>
          <p:nvPr/>
        </p:nvSpPr>
        <p:spPr>
          <a:xfrm>
            <a:off x="222250" y="2730500"/>
            <a:ext cx="11115222" cy="2821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Dictionary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csv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open(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employee_birthday.txt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mode=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csv_file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csv_reader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csv.DictReader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csv_file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row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csv_reader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print(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'Column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names are 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", 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.join(row)}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+=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print(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\t{row[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"name"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works in the 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{row[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"department"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department, and was born in 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{row[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"birthday month"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.'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+= 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'Processed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line_count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lines.'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la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Classes</a:t>
            </a:r>
          </a:p>
        </p:txBody>
      </p:sp>
      <p:sp>
        <p:nvSpPr>
          <p:cNvPr id="190" name="Class is a collection of functions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Class is a collection of functions</a:t>
            </a:r>
          </a:p>
          <a:p>
            <a:r>
              <a:t>Called using . Notation</a:t>
            </a:r>
          </a:p>
          <a:p>
            <a:r>
              <a:t>Eg: calc.add(4,5)</a:t>
            </a:r>
          </a:p>
        </p:txBody>
      </p:sp>
      <p:sp>
        <p:nvSpPr>
          <p:cNvPr id="191" name="class calc:…"/>
          <p:cNvSpPr txBox="1"/>
          <p:nvPr/>
        </p:nvSpPr>
        <p:spPr>
          <a:xfrm>
            <a:off x="844550" y="1574800"/>
            <a:ext cx="2096728" cy="3744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calc: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add(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answer = x + y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print(answer)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sub(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answer = x - y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print(answer)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answer = x * y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print(answer)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div(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x,y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answer = x / y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print(answer)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tatistics and raw inp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Statistics and raw input</a:t>
            </a:r>
          </a:p>
        </p:txBody>
      </p:sp>
      <p:sp>
        <p:nvSpPr>
          <p:cNvPr id="194" name="input() is used to get input from command line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input() is used to get input from command line</a:t>
            </a:r>
          </a:p>
          <a:p>
            <a:r>
              <a:t>Import function is used to import packages to be referenced in the program</a:t>
            </a:r>
          </a:p>
        </p:txBody>
      </p:sp>
      <p:sp>
        <p:nvSpPr>
          <p:cNvPr id="195" name="# Input from user:…"/>
          <p:cNvSpPr txBox="1"/>
          <p:nvPr/>
        </p:nvSpPr>
        <p:spPr>
          <a:xfrm>
            <a:off x="844550" y="1574800"/>
            <a:ext cx="2994409" cy="5066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 Input from user: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name = input('What is your name?: ')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print('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Hello',name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'''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statistics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statistics.mean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statistics.median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statistics.mode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statistics.stdev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statistics.variance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Import synta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Import syntax</a:t>
            </a:r>
          </a:p>
        </p:txBody>
      </p:sp>
      <p:sp>
        <p:nvSpPr>
          <p:cNvPr id="198" name="Import function is used to import packages to be referenced in the program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Import function is used to import packages to be referenced in the program</a:t>
            </a:r>
          </a:p>
          <a:p>
            <a:r>
              <a:t>Can be referenced as</a:t>
            </a:r>
          </a:p>
        </p:txBody>
      </p:sp>
      <p:sp>
        <p:nvSpPr>
          <p:cNvPr id="199" name="#from statistics import mean as m, stdev as s…"/>
          <p:cNvSpPr txBox="1"/>
          <p:nvPr/>
        </p:nvSpPr>
        <p:spPr>
          <a:xfrm>
            <a:off x="844550" y="1574800"/>
            <a:ext cx="3730188" cy="2911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#from statistics import mean as m, 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stdev</a:t>
            </a: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 as s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#import statistics as s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statistics </a:t>
            </a: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*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#print(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s.mean</a:t>
            </a: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))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print(mean(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stdev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Import mo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Import module</a:t>
            </a:r>
          </a:p>
        </p:txBody>
      </p:sp>
      <p:sp>
        <p:nvSpPr>
          <p:cNvPr id="202" name="Import a module or a python file within the same folder structure or environment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Import a module or a python file within the same folder structure or environment</a:t>
            </a:r>
          </a:p>
        </p:txBody>
      </p:sp>
      <p:sp>
        <p:nvSpPr>
          <p:cNvPr id="203" name="import exampleModule…"/>
          <p:cNvSpPr txBox="1"/>
          <p:nvPr/>
        </p:nvSpPr>
        <p:spPr>
          <a:xfrm>
            <a:off x="844550" y="1574800"/>
            <a:ext cx="2749151" cy="1475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exampleModule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exampleModule.exampleFunc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'test'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rror Hand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Error Handling</a:t>
            </a:r>
          </a:p>
        </p:txBody>
      </p:sp>
      <p:sp>
        <p:nvSpPr>
          <p:cNvPr id="206" name="Graceful way of handling errors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Graceful way of handling errors </a:t>
            </a:r>
          </a:p>
          <a:p>
            <a:r>
              <a:t>Used to make robust applications where possible errors are handled well</a:t>
            </a:r>
          </a:p>
          <a:p>
            <a:r>
              <a:t>User experience is greatly enhanced</a:t>
            </a:r>
          </a:p>
        </p:txBody>
      </p:sp>
      <p:sp>
        <p:nvSpPr>
          <p:cNvPr id="207" name="try:…"/>
          <p:cNvSpPr txBox="1"/>
          <p:nvPr/>
        </p:nvSpPr>
        <p:spPr>
          <a:xfrm>
            <a:off x="844550" y="1574800"/>
            <a:ext cx="2667397" cy="3091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print(x)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t: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TypeError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triggered'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NameError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n: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NameError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 triggered'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print(str(n))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Exception </a:t>
            </a: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e: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'General Exception'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print(str(e))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Data structures - Li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structures - List</a:t>
            </a:r>
          </a:p>
        </p:txBody>
      </p:sp>
      <p:sp>
        <p:nvSpPr>
          <p:cNvPr id="210" name="There are 4 common data structures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There are 4 common data structures</a:t>
            </a:r>
          </a:p>
          <a:p>
            <a:r>
              <a:t>List, tuples, dictionaries and set</a:t>
            </a:r>
          </a:p>
          <a:p>
            <a:r>
              <a:t>A list is a one-dimensional, mutable ordered sequence of items which can be of mixed data types</a:t>
            </a:r>
          </a:p>
          <a:p>
            <a:r>
              <a:t>You cannot perform arithmetic operation on list items</a:t>
            </a:r>
          </a:p>
        </p:txBody>
      </p:sp>
      <p:sp>
        <p:nvSpPr>
          <p:cNvPr id="211" name="def example():…"/>
          <p:cNvSpPr txBox="1"/>
          <p:nvPr/>
        </p:nvSpPr>
        <p:spPr>
          <a:xfrm>
            <a:off x="844550" y="1078404"/>
            <a:ext cx="1498808" cy="5779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example():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-US" sz="9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19</a:t>
            </a:r>
            <a:endParaRPr 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a,b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example()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print(a)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print(b)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[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print(x[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x.append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x.insert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x.remove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x.index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x.count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x.sort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</p:txBody>
      </p:sp>
      <p:sp>
        <p:nvSpPr>
          <p:cNvPr id="2" name="def example():…">
            <a:extLst>
              <a:ext uri="{FF2B5EF4-FFF2-40B4-BE49-F238E27FC236}">
                <a16:creationId xmlns:a16="http://schemas.microsoft.com/office/drawing/2014/main" id="{D1349BDD-BBA9-875C-606A-288B821CA7DA}"/>
              </a:ext>
            </a:extLst>
          </p:cNvPr>
          <p:cNvSpPr txBox="1"/>
          <p:nvPr/>
        </p:nvSpPr>
        <p:spPr>
          <a:xfrm>
            <a:off x="3458789" y="1471887"/>
            <a:ext cx="2670603" cy="2188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 = [</a:t>
            </a:r>
            <a:r>
              <a:rPr 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Spot'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'Cam'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'Jan'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'Dave'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'Zack</a:t>
            </a:r>
            <a:r>
              <a:rPr 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x.sort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x.reverse</a:t>
            </a: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print(x)</a:t>
            </a:r>
          </a:p>
          <a:p>
            <a:pPr>
              <a:lnSpc>
                <a:spcPts val="1350"/>
              </a:lnSpc>
            </a:pP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Data structures - Tu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structures - Tuple</a:t>
            </a:r>
          </a:p>
        </p:txBody>
      </p:sp>
      <p:sp>
        <p:nvSpPr>
          <p:cNvPr id="214" name="Tuple is  a one dimensional, immutable ordered sequence of items of mixed datatypes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Tuple is  a one dimensional, immutable ordered sequence of items of mixed datatypes</a:t>
            </a:r>
          </a:p>
        </p:txBody>
      </p:sp>
      <p:sp>
        <p:nvSpPr>
          <p:cNvPr id="215" name="first_tuple = ('Mark',0.67,'Twain',2,(3,4),[1,2,3])…"/>
          <p:cNvSpPr txBox="1"/>
          <p:nvPr/>
        </p:nvSpPr>
        <p:spPr>
          <a:xfrm>
            <a:off x="844550" y="1561187"/>
            <a:ext cx="4220707" cy="2014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first_tuple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'Mark'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0.67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'Twain'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,(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first_tuple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first_tuple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first_tuple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[-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first_tuple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]=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"Test"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Data structures - Diction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structures - Dictionary</a:t>
            </a:r>
          </a:p>
        </p:txBody>
      </p:sp>
      <p:sp>
        <p:nvSpPr>
          <p:cNvPr id="218" name="Dictionary is a store for mapped key:value pair…"/>
          <p:cNvSpPr txBox="1">
            <a:spLocks noGrp="1"/>
          </p:cNvSpPr>
          <p:nvPr>
            <p:ph type="body" idx="1"/>
          </p:nvPr>
        </p:nvSpPr>
        <p:spPr>
          <a:xfrm>
            <a:off x="6096000" y="1574800"/>
            <a:ext cx="5251450" cy="4648200"/>
          </a:xfrm>
          <a:prstGeom prst="rect">
            <a:avLst/>
          </a:prstGeom>
        </p:spPr>
        <p:txBody>
          <a:bodyPr/>
          <a:lstStyle/>
          <a:p>
            <a:r>
              <a:t>Dictionary is a store for mapped key:value pair</a:t>
            </a:r>
          </a:p>
          <a:p>
            <a:r>
              <a:t>Key: is immutable</a:t>
            </a:r>
          </a:p>
          <a:p>
            <a:r>
              <a:t>Value: any data type</a:t>
            </a:r>
          </a:p>
        </p:txBody>
      </p:sp>
      <p:sp>
        <p:nvSpPr>
          <p:cNvPr id="219" name="gradeDict = {'Kelly':89, 'David':65, 'Jack':95, 'Samantha':78}…"/>
          <p:cNvSpPr txBox="1"/>
          <p:nvPr/>
        </p:nvSpPr>
        <p:spPr>
          <a:xfrm>
            <a:off x="491843" y="926313"/>
            <a:ext cx="5119991" cy="6143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{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'Kelly'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'David'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65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'Jack'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95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'Samantha'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78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'David'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'David'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 = 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56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'Jessy'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 = 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92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del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'David'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{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'Kelly'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88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 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'Jack'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95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87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 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'Samantha'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78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           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'Jessy'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99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]}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'Jessy'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'Jessy'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][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Data structures - S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structures - Set</a:t>
            </a:r>
          </a:p>
        </p:txBody>
      </p:sp>
      <p:sp>
        <p:nvSpPr>
          <p:cNvPr id="222" name="A set is a collection of unique elements…"/>
          <p:cNvSpPr txBox="1">
            <a:spLocks noGrp="1"/>
          </p:cNvSpPr>
          <p:nvPr>
            <p:ph type="body" idx="1"/>
          </p:nvPr>
        </p:nvSpPr>
        <p:spPr>
          <a:xfrm>
            <a:off x="6633672" y="1574800"/>
            <a:ext cx="4713778" cy="4648200"/>
          </a:xfrm>
          <a:prstGeom prst="rect">
            <a:avLst/>
          </a:prstGeom>
        </p:spPr>
        <p:txBody>
          <a:bodyPr/>
          <a:lstStyle/>
          <a:p>
            <a:r>
              <a:t>A set is a collection of unique elements</a:t>
            </a:r>
          </a:p>
          <a:p>
            <a:r>
              <a:t> Operators to find intersection, overlap etc.</a:t>
            </a:r>
          </a:p>
        </p:txBody>
      </p:sp>
      <p:sp>
        <p:nvSpPr>
          <p:cNvPr id="223" name="auto_survey = set(['Audi','BMW','Peugeot','Mercedes','Toyota'])…"/>
          <p:cNvSpPr txBox="1"/>
          <p:nvPr/>
        </p:nvSpPr>
        <p:spPr>
          <a:xfrm>
            <a:off x="368395" y="2037342"/>
            <a:ext cx="5365251" cy="3450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ts val="1350"/>
              </a:lnSpc>
            </a:pP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set([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Audi'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'BMW'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'Peugeot'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'Mercedes'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'Toyota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print(type(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auto_survey_set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{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Proton'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'Nissan'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'Honda'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'Mercedes'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'Toyota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print(type(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auto_survey_set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auto_survey.add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'New value'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combined_survey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=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|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auto_survey_set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combined_survey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common_survey_2 = 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- 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auto_survey_set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print(common_survey_2)</a:t>
            </a:r>
          </a:p>
          <a:p>
            <a:pPr>
              <a:lnSpc>
                <a:spcPts val="1350"/>
              </a:lnSpc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30d548d3-9463-428b-8bee-bdbe9286a688"/>
  <p:tag name="SLIDO_EVENT_UUID" val="7ea2b78e-b9d8-480d-bd9e-b91cc3e14a1a"/>
  <p:tag name="SLIDO_EVENT_SECTION_UUID" val="8cc1a319-d9a5-4072-81fd-b71998b9344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2242d9f-f4e4-4bfd-9f9e-3d90076e30e3"/>
  <p:tag name="SLIDO_TIMELINE" val="W3sic2hvd1Jlc3VsdHMiOnRydWUsInBvbGxRdWVzdGlvblV1aWQiOiI1ZTlhYTliYy1iOWU4LTQzNWUtYmIzZS1hMjBjNTBmZjgyNmYi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 Analytics _ Day 1" id="{E412D0A3-F0AF-F141-AC34-3961E9A3CC28}" vid="{42BA904C-6436-1A4E-A3DE-F94AF100F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11966</TotalTime>
  <Words>2602</Words>
  <Application>Microsoft Macintosh PowerPoint</Application>
  <PresentationFormat>Widescreen</PresentationFormat>
  <Paragraphs>454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Menlo</vt:lpstr>
      <vt:lpstr>Office Theme</vt:lpstr>
      <vt:lpstr>Data Analytics for business growth and sustainability in the workforce </vt:lpstr>
      <vt:lpstr>Module 2</vt:lpstr>
      <vt:lpstr>PowerPoint Presentation</vt:lpstr>
      <vt:lpstr>Module Contents</vt:lpstr>
      <vt:lpstr>Strings and math</vt:lpstr>
      <vt:lpstr>Strings and math</vt:lpstr>
      <vt:lpstr>Variables</vt:lpstr>
      <vt:lpstr>While loop</vt:lpstr>
      <vt:lpstr>For loop</vt:lpstr>
      <vt:lpstr>If statement</vt:lpstr>
      <vt:lpstr>If .. else statement</vt:lpstr>
      <vt:lpstr>If .. elif .. else statement</vt:lpstr>
      <vt:lpstr>Functions</vt:lpstr>
      <vt:lpstr>Functions</vt:lpstr>
      <vt:lpstr>Variable scope</vt:lpstr>
      <vt:lpstr>Basic Debugging</vt:lpstr>
      <vt:lpstr>Writing to a file</vt:lpstr>
      <vt:lpstr>Reading from a file</vt:lpstr>
      <vt:lpstr>Reading from a CSV file</vt:lpstr>
      <vt:lpstr>Reading from a CSV file</vt:lpstr>
      <vt:lpstr>Classes</vt:lpstr>
      <vt:lpstr>Statistics and raw input</vt:lpstr>
      <vt:lpstr>Import syntax</vt:lpstr>
      <vt:lpstr>Import module</vt:lpstr>
      <vt:lpstr>Error Handling</vt:lpstr>
      <vt:lpstr>Data structures - List</vt:lpstr>
      <vt:lpstr>Data structures - Tuple</vt:lpstr>
      <vt:lpstr>Data structures - Dictionary</vt:lpstr>
      <vt:lpstr>Data structures - 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for business growth and sustainability in the workforce </dc:title>
  <dc:creator>Vignes</dc:creator>
  <cp:lastModifiedBy>Vignes</cp:lastModifiedBy>
  <cp:revision>64</cp:revision>
  <cp:lastPrinted>2024-11-23T01:33:42Z</cp:lastPrinted>
  <dcterms:created xsi:type="dcterms:W3CDTF">2024-11-19T02:03:13Z</dcterms:created>
  <dcterms:modified xsi:type="dcterms:W3CDTF">2024-12-05T09:08:40Z</dcterms:modified>
</cp:coreProperties>
</file>